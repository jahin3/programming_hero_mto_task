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3709415"/>
            <a:ext cx="18281904" cy="914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" y="2575560"/>
            <a:ext cx="18281904" cy="92659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" y="1459991"/>
            <a:ext cx="18281904" cy="90830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267455" y="1655063"/>
            <a:ext cx="3474720" cy="512445"/>
          </a:xfrm>
          <a:custGeom>
            <a:avLst/>
            <a:gdLst/>
            <a:ahLst/>
            <a:cxnLst/>
            <a:rect l="l" t="t" r="r" b="b"/>
            <a:pathLst>
              <a:path w="3474720" h="512444">
                <a:moveTo>
                  <a:pt x="3474720" y="512064"/>
                </a:moveTo>
                <a:lnTo>
                  <a:pt x="0" y="512064"/>
                </a:lnTo>
                <a:lnTo>
                  <a:pt x="0" y="0"/>
                </a:lnTo>
                <a:lnTo>
                  <a:pt x="3474720" y="0"/>
                </a:lnTo>
                <a:lnTo>
                  <a:pt x="3474720" y="512064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2118360"/>
            <a:ext cx="18281904" cy="122529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" y="1063752"/>
            <a:ext cx="18281904" cy="79248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" y="2039111"/>
            <a:ext cx="18281904" cy="2438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" y="2039111"/>
            <a:ext cx="18281904" cy="2438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41832" y="2133600"/>
            <a:ext cx="5023485" cy="695325"/>
          </a:xfrm>
          <a:custGeom>
            <a:avLst/>
            <a:gdLst/>
            <a:ahLst/>
            <a:cxnLst/>
            <a:rect l="l" t="t" r="r" b="b"/>
            <a:pathLst>
              <a:path w="5023485" h="695325">
                <a:moveTo>
                  <a:pt x="5023104" y="694944"/>
                </a:moveTo>
                <a:lnTo>
                  <a:pt x="0" y="694944"/>
                </a:lnTo>
                <a:lnTo>
                  <a:pt x="0" y="0"/>
                </a:lnTo>
                <a:lnTo>
                  <a:pt x="5023104" y="0"/>
                </a:lnTo>
                <a:lnTo>
                  <a:pt x="5023104" y="694944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6220967"/>
            <a:ext cx="18281904" cy="405993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" y="5519928"/>
            <a:ext cx="18281904" cy="4023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" y="4831079"/>
            <a:ext cx="18281904" cy="50596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" y="3581400"/>
            <a:ext cx="18281904" cy="5120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5" y="966216"/>
            <a:ext cx="18281904" cy="116433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030224" y="2560320"/>
            <a:ext cx="9326880" cy="521334"/>
          </a:xfrm>
          <a:custGeom>
            <a:avLst/>
            <a:gdLst/>
            <a:ahLst/>
            <a:cxnLst/>
            <a:rect l="l" t="t" r="r" b="b"/>
            <a:pathLst>
              <a:path w="9326880" h="521335">
                <a:moveTo>
                  <a:pt x="9326880" y="521208"/>
                </a:moveTo>
                <a:lnTo>
                  <a:pt x="0" y="521208"/>
                </a:lnTo>
                <a:lnTo>
                  <a:pt x="0" y="0"/>
                </a:lnTo>
                <a:lnTo>
                  <a:pt x="9326880" y="0"/>
                </a:lnTo>
                <a:lnTo>
                  <a:pt x="9326880" y="521208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00349" y="1720595"/>
            <a:ext cx="2490470" cy="1336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png"/><Relationship Id="rId8" Type="http://schemas.openxmlformats.org/officeDocument/2006/relationships/image" Target="../media/image31.jpg"/><Relationship Id="rId9" Type="http://schemas.openxmlformats.org/officeDocument/2006/relationships/image" Target="../media/image3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40.jpg"/><Relationship Id="rId5" Type="http://schemas.openxmlformats.org/officeDocument/2006/relationships/image" Target="../media/image41.jpg"/><Relationship Id="rId6" Type="http://schemas.openxmlformats.org/officeDocument/2006/relationships/image" Target="../media/image42.jpg"/><Relationship Id="rId7" Type="http://schemas.openxmlformats.org/officeDocument/2006/relationships/image" Target="../media/image43.jpg"/><Relationship Id="rId8" Type="http://schemas.openxmlformats.org/officeDocument/2006/relationships/image" Target="../media/image44.png"/><Relationship Id="rId9" Type="http://schemas.openxmlformats.org/officeDocument/2006/relationships/image" Target="../media/image45.jpg"/><Relationship Id="rId10" Type="http://schemas.openxmlformats.org/officeDocument/2006/relationships/image" Target="../media/image46.jpg"/><Relationship Id="rId11" Type="http://schemas.openxmlformats.org/officeDocument/2006/relationships/image" Target="../media/image47.png"/><Relationship Id="rId12" Type="http://schemas.openxmlformats.org/officeDocument/2006/relationships/image" Target="../media/image48.jpg"/><Relationship Id="rId13" Type="http://schemas.openxmlformats.org/officeDocument/2006/relationships/image" Target="../media/image49.jpg"/><Relationship Id="rId14" Type="http://schemas.openxmlformats.org/officeDocument/2006/relationships/image" Target="../media/image50.jpg"/><Relationship Id="rId15" Type="http://schemas.openxmlformats.org/officeDocument/2006/relationships/image" Target="../media/image51.jpg"/><Relationship Id="rId16" Type="http://schemas.openxmlformats.org/officeDocument/2006/relationships/image" Target="../media/image5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86466" y="1049781"/>
            <a:ext cx="3576954" cy="1343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650" spc="-135">
                <a:solidFill>
                  <a:srgbClr val="FFFFFF"/>
                </a:solidFill>
                <a:latin typeface="Arial MT"/>
                <a:cs typeface="Arial MT"/>
              </a:rPr>
              <a:t>rammin</a:t>
            </a:r>
            <a:endParaRPr sz="865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124711" y="2593848"/>
            <a:ext cx="3276600" cy="710565"/>
          </a:xfrm>
          <a:custGeom>
            <a:avLst/>
            <a:gdLst/>
            <a:ahLst/>
            <a:cxnLst/>
            <a:rect l="l" t="t" r="r" b="b"/>
            <a:pathLst>
              <a:path w="3276600" h="710564">
                <a:moveTo>
                  <a:pt x="3276600" y="710184"/>
                </a:moveTo>
                <a:lnTo>
                  <a:pt x="0" y="710184"/>
                </a:lnTo>
                <a:lnTo>
                  <a:pt x="0" y="0"/>
                </a:lnTo>
                <a:lnTo>
                  <a:pt x="3276600" y="0"/>
                </a:lnTo>
                <a:lnTo>
                  <a:pt x="3276600" y="710184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932" y="2119883"/>
            <a:ext cx="355981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10"/>
              <a:t>L</a:t>
            </a:r>
            <a:r>
              <a:rPr dirty="0" sz="9200" spc="-10"/>
              <a:t>e</a:t>
            </a:r>
            <a:r>
              <a:rPr dirty="0" sz="9200" spc="-10"/>
              <a:t>arnin</a:t>
            </a:r>
            <a:endParaRPr sz="9200"/>
          </a:p>
        </p:txBody>
      </p:sp>
      <p:sp>
        <p:nvSpPr>
          <p:cNvPr id="5" name="object 5" descr=""/>
          <p:cNvSpPr/>
          <p:nvPr/>
        </p:nvSpPr>
        <p:spPr>
          <a:xfrm>
            <a:off x="6117335" y="2676144"/>
            <a:ext cx="875030" cy="622300"/>
          </a:xfrm>
          <a:custGeom>
            <a:avLst/>
            <a:gdLst/>
            <a:ahLst/>
            <a:cxnLst/>
            <a:rect l="l" t="t" r="r" b="b"/>
            <a:pathLst>
              <a:path w="875029" h="622300">
                <a:moveTo>
                  <a:pt x="874776" y="621792"/>
                </a:moveTo>
                <a:lnTo>
                  <a:pt x="0" y="621792"/>
                </a:lnTo>
                <a:lnTo>
                  <a:pt x="0" y="0"/>
                </a:lnTo>
                <a:lnTo>
                  <a:pt x="874776" y="0"/>
                </a:lnTo>
                <a:lnTo>
                  <a:pt x="874776" y="621792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427976" y="2785872"/>
            <a:ext cx="1801495" cy="518159"/>
          </a:xfrm>
          <a:custGeom>
            <a:avLst/>
            <a:gdLst/>
            <a:ahLst/>
            <a:cxnLst/>
            <a:rect l="l" t="t" r="r" b="b"/>
            <a:pathLst>
              <a:path w="1801495" h="518160">
                <a:moveTo>
                  <a:pt x="1801368" y="518159"/>
                </a:moveTo>
                <a:lnTo>
                  <a:pt x="0" y="518159"/>
                </a:lnTo>
                <a:lnTo>
                  <a:pt x="0" y="0"/>
                </a:lnTo>
                <a:lnTo>
                  <a:pt x="1801368" y="0"/>
                </a:lnTo>
                <a:lnTo>
                  <a:pt x="1801368" y="518159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061911" y="2154935"/>
            <a:ext cx="3376929" cy="138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0640" algn="l"/>
              </a:tabLst>
            </a:pPr>
            <a:r>
              <a:rPr dirty="0" sz="8200" spc="-25" i="1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8200" i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8900" spc="7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dirty="0" sz="8900" spc="70">
                <a:solidFill>
                  <a:srgbClr val="FFFFFF"/>
                </a:solidFill>
                <a:latin typeface="Cambria"/>
                <a:cs typeface="Cambria"/>
              </a:rPr>
              <a:t>rm</a:t>
            </a:r>
            <a:endParaRPr sz="8900">
              <a:latin typeface="Cambria"/>
              <a:cs typeface="Cambri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983735" y="3764279"/>
            <a:ext cx="3959860" cy="673735"/>
          </a:xfrm>
          <a:custGeom>
            <a:avLst/>
            <a:gdLst/>
            <a:ahLst/>
            <a:cxnLst/>
            <a:rect l="l" t="t" r="r" b="b"/>
            <a:pathLst>
              <a:path w="3959859" h="673735">
                <a:moveTo>
                  <a:pt x="3959352" y="673608"/>
                </a:moveTo>
                <a:lnTo>
                  <a:pt x="0" y="673608"/>
                </a:lnTo>
                <a:lnTo>
                  <a:pt x="0" y="0"/>
                </a:lnTo>
                <a:lnTo>
                  <a:pt x="3959352" y="0"/>
                </a:lnTo>
                <a:lnTo>
                  <a:pt x="3959352" y="673608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939198" y="3463544"/>
            <a:ext cx="3990975" cy="116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33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dirty="0" sz="7500" spc="-5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0">
                <a:solidFill>
                  <a:srgbClr val="FFFFFF"/>
                </a:solidFill>
                <a:latin typeface="Arial MT"/>
                <a:cs typeface="Arial MT"/>
              </a:rPr>
              <a:t>East</a:t>
            </a:r>
            <a:r>
              <a:rPr dirty="0" sz="75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0" spc="-475">
                <a:solidFill>
                  <a:srgbClr val="FFFFFF"/>
                </a:solidFill>
                <a:latin typeface="Arial MT"/>
                <a:cs typeface="Arial MT"/>
              </a:rPr>
              <a:t>Ex</a:t>
            </a:r>
            <a:endParaRPr sz="750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631935" y="3919728"/>
            <a:ext cx="2935605" cy="518159"/>
          </a:xfrm>
          <a:custGeom>
            <a:avLst/>
            <a:gdLst/>
            <a:ahLst/>
            <a:cxnLst/>
            <a:rect l="l" t="t" r="r" b="b"/>
            <a:pathLst>
              <a:path w="2935604" h="518160">
                <a:moveTo>
                  <a:pt x="2935224" y="518159"/>
                </a:moveTo>
                <a:lnTo>
                  <a:pt x="0" y="518159"/>
                </a:lnTo>
                <a:lnTo>
                  <a:pt x="0" y="0"/>
                </a:lnTo>
                <a:lnTo>
                  <a:pt x="2935224" y="0"/>
                </a:lnTo>
                <a:lnTo>
                  <a:pt x="2935224" y="518159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581893" y="3298444"/>
            <a:ext cx="2988945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-495">
                <a:solidFill>
                  <a:srgbClr val="FFFFFF"/>
                </a:solidFill>
                <a:latin typeface="Arial MT"/>
                <a:cs typeface="Arial MT"/>
              </a:rPr>
              <a:t>ansion</a:t>
            </a:r>
            <a:endParaRPr sz="88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095" y="5294376"/>
            <a:ext cx="18279110" cy="368935"/>
          </a:xfrm>
          <a:custGeom>
            <a:avLst/>
            <a:gdLst/>
            <a:ahLst/>
            <a:cxnLst/>
            <a:rect l="l" t="t" r="r" b="b"/>
            <a:pathLst>
              <a:path w="18279110" h="368935">
                <a:moveTo>
                  <a:pt x="18278856" y="368808"/>
                </a:moveTo>
                <a:lnTo>
                  <a:pt x="0" y="368808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368808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27379" y="5164835"/>
            <a:ext cx="38969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95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3200" spc="-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FFFFFF"/>
                </a:solidFill>
                <a:latin typeface="Arial MT"/>
                <a:cs typeface="Arial MT"/>
              </a:rPr>
              <a:t>Sumiya</a:t>
            </a:r>
            <a:r>
              <a:rPr dirty="0" sz="320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MT"/>
                <a:cs typeface="Arial MT"/>
              </a:rPr>
              <a:t>Tabassum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9656" y="2364993"/>
            <a:ext cx="9352915" cy="749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50" spc="135"/>
              <a:t>Speaker's</a:t>
            </a:r>
            <a:r>
              <a:rPr dirty="0" sz="4750" spc="-40"/>
              <a:t> </a:t>
            </a:r>
            <a:r>
              <a:rPr dirty="0" sz="4750" spc="250"/>
              <a:t>Name:</a:t>
            </a:r>
            <a:r>
              <a:rPr dirty="0" sz="4750" spc="-325"/>
              <a:t> </a:t>
            </a:r>
            <a:r>
              <a:rPr dirty="0" sz="4750" spc="160"/>
              <a:t>Sumiya</a:t>
            </a:r>
            <a:r>
              <a:rPr dirty="0" sz="4750" spc="-70"/>
              <a:t> </a:t>
            </a:r>
            <a:r>
              <a:rPr dirty="0" sz="4750" spc="160"/>
              <a:t>Tabbasum</a:t>
            </a:r>
            <a:endParaRPr sz="4750"/>
          </a:p>
        </p:txBody>
      </p:sp>
      <p:grpSp>
        <p:nvGrpSpPr>
          <p:cNvPr id="3" name="object 3" descr=""/>
          <p:cNvGrpSpPr/>
          <p:nvPr/>
        </p:nvGrpSpPr>
        <p:grpSpPr>
          <a:xfrm>
            <a:off x="6095" y="4251959"/>
            <a:ext cx="18282285" cy="36830"/>
            <a:chOff x="6095" y="4251959"/>
            <a:chExt cx="18282285" cy="368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18991" y="4251959"/>
              <a:ext cx="1633727" cy="3657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53743" y="4251959"/>
              <a:ext cx="1633728" cy="3657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5" y="4251959"/>
              <a:ext cx="18281904" cy="365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8013192"/>
            <a:ext cx="18281904" cy="5608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" y="7239000"/>
            <a:ext cx="18281904" cy="56083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" y="6464808"/>
            <a:ext cx="18281904" cy="53644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" y="4709159"/>
            <a:ext cx="18281904" cy="90830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89959" y="3550920"/>
            <a:ext cx="14798040" cy="58521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9263" y="862583"/>
            <a:ext cx="17318736" cy="1164335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6095" y="2782823"/>
            <a:ext cx="18279110" cy="411480"/>
          </a:xfrm>
          <a:custGeom>
            <a:avLst/>
            <a:gdLst/>
            <a:ahLst/>
            <a:cxnLst/>
            <a:rect l="l" t="t" r="r" b="b"/>
            <a:pathLst>
              <a:path w="18279110" h="411480">
                <a:moveTo>
                  <a:pt x="18278856" y="411480"/>
                </a:moveTo>
                <a:lnTo>
                  <a:pt x="0" y="411480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11480"/>
                </a:lnTo>
                <a:close/>
              </a:path>
            </a:pathLst>
          </a:custGeom>
          <a:solidFill>
            <a:srgbClr val="E89C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72834" y="2509011"/>
            <a:ext cx="78740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575">
                <a:solidFill>
                  <a:srgbClr val="E8A70F"/>
                </a:solidFill>
                <a:latin typeface="Arial MT"/>
                <a:cs typeface="Arial MT"/>
              </a:rPr>
              <a:t>””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54634" y="2509011"/>
            <a:ext cx="3259454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1175" indent="-498475">
              <a:lnSpc>
                <a:spcPct val="100000"/>
              </a:lnSpc>
              <a:spcBef>
                <a:spcPts val="100"/>
              </a:spcBef>
              <a:buChar char="•"/>
              <a:tabLst>
                <a:tab pos="511175" algn="l"/>
              </a:tabLst>
            </a:pPr>
            <a:r>
              <a:rPr dirty="0" sz="5200" spc="-235">
                <a:solidFill>
                  <a:srgbClr val="FFFFFF"/>
                </a:solidFill>
                <a:latin typeface="Arial MT"/>
                <a:cs typeface="Arial MT"/>
              </a:rPr>
              <a:t>Freemium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351007" y="4953000"/>
            <a:ext cx="1100455" cy="655320"/>
          </a:xfrm>
          <a:custGeom>
            <a:avLst/>
            <a:gdLst/>
            <a:ahLst/>
            <a:cxnLst/>
            <a:rect l="l" t="t" r="r" b="b"/>
            <a:pathLst>
              <a:path w="1100454" h="655320">
                <a:moveTo>
                  <a:pt x="1100328" y="655320"/>
                </a:moveTo>
                <a:lnTo>
                  <a:pt x="0" y="655320"/>
                </a:lnTo>
                <a:lnTo>
                  <a:pt x="0" y="0"/>
                </a:lnTo>
                <a:lnTo>
                  <a:pt x="1100328" y="0"/>
                </a:lnTo>
                <a:lnTo>
                  <a:pt x="1100328" y="655320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0296091" y="4316476"/>
            <a:ext cx="93345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0" spc="-345">
                <a:solidFill>
                  <a:srgbClr val="FFFFFF"/>
                </a:solidFill>
                <a:latin typeface="Times New Roman"/>
                <a:cs typeface="Times New Roman"/>
              </a:rPr>
              <a:t>ar</a:t>
            </a:r>
            <a:endParaRPr sz="10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8433816"/>
            <a:ext cx="18281904" cy="47548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" y="7708392"/>
            <a:ext cx="18281904" cy="48158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" y="5513832"/>
            <a:ext cx="18281904" cy="14813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" y="3550920"/>
            <a:ext cx="18281904" cy="49987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5" y="2819400"/>
            <a:ext cx="18281904" cy="48158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5" y="649223"/>
            <a:ext cx="18281904" cy="1444752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6095" y="4294632"/>
            <a:ext cx="18279110" cy="375285"/>
          </a:xfrm>
          <a:custGeom>
            <a:avLst/>
            <a:gdLst/>
            <a:ahLst/>
            <a:cxnLst/>
            <a:rect l="l" t="t" r="r" b="b"/>
            <a:pathLst>
              <a:path w="18279110" h="375285">
                <a:moveTo>
                  <a:pt x="18278856" y="374904"/>
                </a:moveTo>
                <a:lnTo>
                  <a:pt x="0" y="374904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374904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31415" y="4079494"/>
            <a:ext cx="4945380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2610" indent="-549910">
              <a:lnSpc>
                <a:spcPct val="100000"/>
              </a:lnSpc>
              <a:spcBef>
                <a:spcPts val="100"/>
              </a:spcBef>
              <a:buChar char="•"/>
              <a:tabLst>
                <a:tab pos="562610" algn="l"/>
              </a:tabLst>
            </a:pPr>
            <a:r>
              <a:rPr dirty="0" sz="4450" spc="-210">
                <a:solidFill>
                  <a:srgbClr val="FFFFFF"/>
                </a:solidFill>
                <a:latin typeface="Arial MT"/>
                <a:cs typeface="Arial MT"/>
              </a:rPr>
              <a:t>Tech</a:t>
            </a:r>
            <a:r>
              <a:rPr dirty="0" sz="4450" spc="-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50" spc="-70">
                <a:solidFill>
                  <a:srgbClr val="FFFFFF"/>
                </a:solidFill>
                <a:latin typeface="Arial MT"/>
                <a:cs typeface="Arial MT"/>
              </a:rPr>
              <a:t>communities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095" y="9159240"/>
            <a:ext cx="18279110" cy="472440"/>
          </a:xfrm>
          <a:custGeom>
            <a:avLst/>
            <a:gdLst/>
            <a:ahLst/>
            <a:cxnLst/>
            <a:rect l="l" t="t" r="r" b="b"/>
            <a:pathLst>
              <a:path w="18279110" h="472440">
                <a:moveTo>
                  <a:pt x="18278856" y="472440"/>
                </a:moveTo>
                <a:lnTo>
                  <a:pt x="0" y="472440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72440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55215" y="8944102"/>
            <a:ext cx="5337175" cy="70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3405" indent="-560705">
              <a:lnSpc>
                <a:spcPct val="100000"/>
              </a:lnSpc>
              <a:spcBef>
                <a:spcPts val="100"/>
              </a:spcBef>
              <a:buChar char="•"/>
              <a:tabLst>
                <a:tab pos="573405" algn="l"/>
              </a:tabLst>
            </a:pPr>
            <a:r>
              <a:rPr dirty="0" sz="4450" spc="-15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dirty="0" sz="445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50" spc="-70">
                <a:solidFill>
                  <a:srgbClr val="FFFFFF"/>
                </a:solidFill>
                <a:latin typeface="Arial MT"/>
                <a:cs typeface="Arial MT"/>
              </a:rPr>
              <a:t>engagement</a:t>
            </a:r>
            <a:endParaRPr sz="445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095" y="9970007"/>
            <a:ext cx="18282285" cy="317500"/>
            <a:chOff x="6095" y="9970007"/>
            <a:chExt cx="18282285" cy="317500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910048" y="9979151"/>
              <a:ext cx="243840" cy="30784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" y="9970007"/>
              <a:ext cx="18281904" cy="3169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4849367"/>
            <a:ext cx="18281904" cy="54376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" y="3611879"/>
            <a:ext cx="18281904" cy="48158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" y="2904744"/>
            <a:ext cx="18281904" cy="4754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" y="533400"/>
            <a:ext cx="18281904" cy="932688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6095" y="2185416"/>
            <a:ext cx="18279110" cy="472440"/>
          </a:xfrm>
          <a:custGeom>
            <a:avLst/>
            <a:gdLst/>
            <a:ahLst/>
            <a:cxnLst/>
            <a:rect l="l" t="t" r="r" b="b"/>
            <a:pathLst>
              <a:path w="18279110" h="472439">
                <a:moveTo>
                  <a:pt x="18278856" y="472440"/>
                </a:moveTo>
                <a:lnTo>
                  <a:pt x="0" y="472440"/>
                </a:lnTo>
                <a:lnTo>
                  <a:pt x="0" y="0"/>
                </a:lnTo>
                <a:lnTo>
                  <a:pt x="18278856" y="0"/>
                </a:lnTo>
                <a:lnTo>
                  <a:pt x="18278856" y="472440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48873" y="1985771"/>
            <a:ext cx="775779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5295" indent="-442595">
              <a:lnSpc>
                <a:spcPct val="100000"/>
              </a:lnSpc>
              <a:spcBef>
                <a:spcPts val="100"/>
              </a:spcBef>
              <a:buChar char="•"/>
              <a:tabLst>
                <a:tab pos="455295" algn="l"/>
              </a:tabLst>
            </a:pPr>
            <a:r>
              <a:rPr dirty="0" sz="4400" spc="-275">
                <a:solidFill>
                  <a:srgbClr val="FFFFFF"/>
                </a:solidFill>
                <a:latin typeface="Arial MT"/>
                <a:cs typeface="Arial MT"/>
              </a:rPr>
              <a:t>Low</a:t>
            </a:r>
            <a:r>
              <a:rPr dirty="0" sz="44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00">
                <a:solidFill>
                  <a:srgbClr val="FFFFFF"/>
                </a:solidFill>
                <a:latin typeface="Arial MT"/>
                <a:cs typeface="Arial MT"/>
              </a:rPr>
              <a:t>trust</a:t>
            </a:r>
            <a:r>
              <a:rPr dirty="0" sz="4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440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00" spc="-50">
                <a:solidFill>
                  <a:srgbClr val="FFFFFF"/>
                </a:solidFill>
                <a:latin typeface="Arial MT"/>
                <a:cs typeface="Arial MT"/>
              </a:rPr>
              <a:t>influencers</a:t>
            </a:r>
            <a:r>
              <a:rPr dirty="0" sz="44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00" spc="-8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44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00" spc="-10">
                <a:solidFill>
                  <a:srgbClr val="FFFFFF"/>
                </a:solidFill>
                <a:latin typeface="Arial MT"/>
                <a:cs typeface="Arial MT"/>
              </a:rPr>
              <a:t>proof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4455" y="1749552"/>
            <a:ext cx="5121910" cy="1290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300">
                <a:solidFill>
                  <a:srgbClr val="FFFFFF"/>
                </a:solidFill>
                <a:latin typeface="Calibri"/>
                <a:cs typeface="Calibri"/>
              </a:rPr>
              <a:t>Timeìine</a:t>
            </a:r>
            <a:r>
              <a:rPr dirty="0" sz="8300" spc="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8300" spc="175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endParaRPr sz="83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900671" y="2173223"/>
            <a:ext cx="2334895" cy="655320"/>
          </a:xfrm>
          <a:custGeom>
            <a:avLst/>
            <a:gdLst/>
            <a:ahLst/>
            <a:cxnLst/>
            <a:rect l="l" t="t" r="r" b="b"/>
            <a:pathLst>
              <a:path w="2334895" h="655319">
                <a:moveTo>
                  <a:pt x="2334768" y="655320"/>
                </a:moveTo>
                <a:lnTo>
                  <a:pt x="0" y="655320"/>
                </a:lnTo>
                <a:lnTo>
                  <a:pt x="0" y="0"/>
                </a:lnTo>
                <a:lnTo>
                  <a:pt x="2334768" y="0"/>
                </a:lnTo>
                <a:lnTo>
                  <a:pt x="2334768" y="655320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375"/>
              <a:t> </a:t>
            </a:r>
            <a:r>
              <a:rPr dirty="0" spc="40"/>
              <a:t>o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6095" y="3368040"/>
            <a:ext cx="18282285" cy="24765"/>
            <a:chOff x="6095" y="3368040"/>
            <a:chExt cx="18282285" cy="2476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" y="3368040"/>
              <a:ext cx="18281904" cy="2438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" y="3368040"/>
              <a:ext cx="18281904" cy="24383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6095" y="3459479"/>
            <a:ext cx="18282285" cy="500380"/>
            <a:chOff x="6095" y="3459479"/>
            <a:chExt cx="18282285" cy="50038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018008" y="3459479"/>
              <a:ext cx="5269992" cy="49987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095" y="3459479"/>
              <a:ext cx="18279110" cy="497205"/>
            </a:xfrm>
            <a:custGeom>
              <a:avLst/>
              <a:gdLst/>
              <a:ahLst/>
              <a:cxnLst/>
              <a:rect l="l" t="t" r="r" b="b"/>
              <a:pathLst>
                <a:path w="18279110" h="497204">
                  <a:moveTo>
                    <a:pt x="18278856" y="496823"/>
                  </a:moveTo>
                  <a:lnTo>
                    <a:pt x="0" y="496823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496823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6095" y="4062984"/>
            <a:ext cx="18282285" cy="390525"/>
            <a:chOff x="6095" y="4062984"/>
            <a:chExt cx="18282285" cy="390525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92200" y="4062984"/>
              <a:ext cx="4495800" cy="390143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095" y="4062984"/>
              <a:ext cx="18279110" cy="387350"/>
            </a:xfrm>
            <a:custGeom>
              <a:avLst/>
              <a:gdLst/>
              <a:ahLst/>
              <a:cxnLst/>
              <a:rect l="l" t="t" r="r" b="b"/>
              <a:pathLst>
                <a:path w="18279110" h="387350">
                  <a:moveTo>
                    <a:pt x="18278856" y="387096"/>
                  </a:moveTo>
                  <a:lnTo>
                    <a:pt x="0" y="387096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387096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6095" y="4648200"/>
            <a:ext cx="18282285" cy="475615"/>
            <a:chOff x="6095" y="4648200"/>
            <a:chExt cx="18282285" cy="47561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78456" y="4648200"/>
              <a:ext cx="3209544" cy="47548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095" y="4648200"/>
              <a:ext cx="18279110" cy="472440"/>
            </a:xfrm>
            <a:custGeom>
              <a:avLst/>
              <a:gdLst/>
              <a:ahLst/>
              <a:cxnLst/>
              <a:rect l="l" t="t" r="r" b="b"/>
              <a:pathLst>
                <a:path w="18279110" h="472439">
                  <a:moveTo>
                    <a:pt x="18278856" y="472440"/>
                  </a:moveTo>
                  <a:lnTo>
                    <a:pt x="0" y="472440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47244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078211" y="3278378"/>
            <a:ext cx="5984875" cy="1870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1325" indent="-427355">
              <a:lnSpc>
                <a:spcPts val="4915"/>
              </a:lnSpc>
              <a:spcBef>
                <a:spcPts val="100"/>
              </a:spcBef>
              <a:buChar char="•"/>
              <a:tabLst>
                <a:tab pos="441325" algn="l"/>
              </a:tabLst>
            </a:pPr>
            <a:r>
              <a:rPr dirty="0" sz="4350" spc="-445">
                <a:solidFill>
                  <a:srgbClr val="FFFFFF"/>
                </a:solidFill>
                <a:latin typeface="Arial MT"/>
                <a:cs typeface="Arial MT"/>
              </a:rPr>
              <a:t>MVP</a:t>
            </a:r>
            <a:r>
              <a:rPr dirty="0" sz="4350" spc="-2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350" spc="-75">
                <a:solidFill>
                  <a:srgbClr val="FFFFFF"/>
                </a:solidFill>
                <a:latin typeface="Arial MT"/>
                <a:cs typeface="Arial MT"/>
              </a:rPr>
              <a:t>ready</a:t>
            </a:r>
            <a:r>
              <a:rPr dirty="0" sz="4350" spc="-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3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43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350" spc="-25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4350" spc="-3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350" spc="-75">
                <a:solidFill>
                  <a:srgbClr val="FFFFFF"/>
                </a:solidFill>
                <a:latin typeface="Arial MT"/>
                <a:cs typeface="Arial MT"/>
              </a:rPr>
              <a:t>progress</a:t>
            </a:r>
            <a:endParaRPr sz="4350">
              <a:latin typeface="Arial MT"/>
              <a:cs typeface="Arial MT"/>
            </a:endParaRPr>
          </a:p>
          <a:p>
            <a:pPr marL="440690" indent="-427355">
              <a:lnSpc>
                <a:spcPts val="4560"/>
              </a:lnSpc>
              <a:buChar char="•"/>
              <a:tabLst>
                <a:tab pos="440690" algn="l"/>
              </a:tabLst>
            </a:pPr>
            <a:r>
              <a:rPr dirty="0" sz="4400" spc="-10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dirty="0" sz="4400" spc="-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400" spc="-155">
                <a:solidFill>
                  <a:srgbClr val="FFFFFF"/>
                </a:solidFill>
                <a:latin typeface="Arial MT"/>
                <a:cs typeface="Arial MT"/>
              </a:rPr>
              <a:t>research </a:t>
            </a:r>
            <a:r>
              <a:rPr dirty="0" sz="4400" spc="-20">
                <a:solidFill>
                  <a:srgbClr val="FFFFFF"/>
                </a:solidFill>
                <a:latin typeface="Arial MT"/>
                <a:cs typeface="Arial MT"/>
              </a:rPr>
              <a:t>done</a:t>
            </a:r>
            <a:endParaRPr sz="4400">
              <a:latin typeface="Arial MT"/>
              <a:cs typeface="Arial MT"/>
            </a:endParaRPr>
          </a:p>
          <a:p>
            <a:pPr marL="438784" indent="-426084">
              <a:lnSpc>
                <a:spcPts val="5050"/>
              </a:lnSpc>
              <a:buChar char="•"/>
              <a:tabLst>
                <a:tab pos="438784" algn="l"/>
              </a:tabLst>
            </a:pPr>
            <a:r>
              <a:rPr dirty="0" sz="4550" spc="-254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dirty="0" sz="45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 spc="-1095">
                <a:solidFill>
                  <a:srgbClr val="FFFFFF"/>
                </a:solidFill>
                <a:latin typeface="Arial MT"/>
                <a:cs typeface="Arial MT"/>
              </a:rPr>
              <a:t>pİan</a:t>
            </a:r>
            <a:r>
              <a:rPr dirty="0" sz="45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4550" spc="-40">
                <a:solidFill>
                  <a:srgbClr val="FFFFFF"/>
                </a:solidFill>
                <a:latin typeface="Arial MT"/>
                <a:cs typeface="Arial MT"/>
              </a:rPr>
              <a:t>prepared</a:t>
            </a:r>
            <a:endParaRPr sz="455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095" y="5306567"/>
            <a:ext cx="18282285" cy="30480"/>
            <a:chOff x="6095" y="5306567"/>
            <a:chExt cx="18282285" cy="30480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5" y="5306567"/>
              <a:ext cx="18281904" cy="3047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5" y="5306567"/>
              <a:ext cx="18281904" cy="30479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6095" y="5465064"/>
            <a:ext cx="18282285" cy="975360"/>
            <a:chOff x="6095" y="5465064"/>
            <a:chExt cx="18282285" cy="975360"/>
          </a:xfrm>
        </p:grpSpPr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99408" y="5465064"/>
              <a:ext cx="1688592" cy="97536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6095" y="5465064"/>
              <a:ext cx="18279110" cy="972819"/>
            </a:xfrm>
            <a:custGeom>
              <a:avLst/>
              <a:gdLst/>
              <a:ahLst/>
              <a:cxnLst/>
              <a:rect l="l" t="t" r="r" b="b"/>
              <a:pathLst>
                <a:path w="18279110" h="972820">
                  <a:moveTo>
                    <a:pt x="18278856" y="972312"/>
                  </a:moveTo>
                  <a:lnTo>
                    <a:pt x="0" y="972312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972312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6095" y="6702552"/>
            <a:ext cx="18282285" cy="353695"/>
            <a:chOff x="6095" y="6702552"/>
            <a:chExt cx="18282285" cy="353695"/>
          </a:xfrm>
        </p:grpSpPr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43832" y="6702552"/>
              <a:ext cx="1344167" cy="35356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095" y="6702552"/>
              <a:ext cx="18279110" cy="350520"/>
            </a:xfrm>
            <a:custGeom>
              <a:avLst/>
              <a:gdLst/>
              <a:ahLst/>
              <a:cxnLst/>
              <a:rect l="l" t="t" r="r" b="b"/>
              <a:pathLst>
                <a:path w="18279110" h="350520">
                  <a:moveTo>
                    <a:pt x="18278856" y="350520"/>
                  </a:moveTo>
                  <a:lnTo>
                    <a:pt x="0" y="350520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35052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7622240" y="5282438"/>
            <a:ext cx="5838825" cy="1878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1009" indent="-448309">
              <a:lnSpc>
                <a:spcPct val="100000"/>
              </a:lnSpc>
              <a:spcBef>
                <a:spcPts val="100"/>
              </a:spcBef>
              <a:buChar char="•"/>
              <a:tabLst>
                <a:tab pos="461009" algn="l"/>
              </a:tabLst>
            </a:pPr>
            <a:r>
              <a:rPr dirty="0" sz="4050" spc="-665">
                <a:solidFill>
                  <a:srgbClr val="FFFFFF"/>
                </a:solidFill>
                <a:latin typeface="Calibri"/>
                <a:cs typeface="Calibri"/>
              </a:rPr>
              <a:t>0—</a:t>
            </a:r>
            <a:r>
              <a:rPr dirty="0" sz="4050" spc="-475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dirty="0" sz="405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>
                <a:solidFill>
                  <a:srgbClr val="FFFFFF"/>
                </a:solidFill>
                <a:latin typeface="Calibri"/>
                <a:cs typeface="Calibri"/>
              </a:rPr>
              <a:t>months:</a:t>
            </a:r>
            <a:r>
              <a:rPr dirty="0" sz="405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endParaRPr sz="4050">
              <a:latin typeface="Calibri"/>
              <a:cs typeface="Calibri"/>
            </a:endParaRPr>
          </a:p>
          <a:p>
            <a:pPr marL="452120" indent="-439420">
              <a:lnSpc>
                <a:spcPts val="4830"/>
              </a:lnSpc>
              <a:spcBef>
                <a:spcPts val="10"/>
              </a:spcBef>
              <a:buChar char="•"/>
              <a:tabLst>
                <a:tab pos="452120" algn="l"/>
              </a:tabLst>
            </a:pPr>
            <a:r>
              <a:rPr dirty="0" sz="4050" spc="8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dirty="0" sz="40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Calibri"/>
                <a:cs typeface="Calibri"/>
              </a:rPr>
              <a:t>months:</a:t>
            </a:r>
            <a:r>
              <a:rPr dirty="0" sz="40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200">
                <a:solidFill>
                  <a:srgbClr val="FFFFFF"/>
                </a:solidFill>
                <a:latin typeface="Calibri"/>
                <a:cs typeface="Calibri"/>
              </a:rPr>
              <a:t>100K</a:t>
            </a:r>
            <a:r>
              <a:rPr dirty="0" sz="405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endParaRPr sz="4050">
              <a:latin typeface="Calibri"/>
              <a:cs typeface="Calibri"/>
            </a:endParaRPr>
          </a:p>
          <a:p>
            <a:pPr marL="422275" indent="-409575">
              <a:lnSpc>
                <a:spcPts val="4890"/>
              </a:lnSpc>
              <a:buChar char="•"/>
              <a:tabLst>
                <a:tab pos="422275" algn="l"/>
              </a:tabLst>
            </a:pPr>
            <a:r>
              <a:rPr dirty="0" sz="4100" spc="-2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r>
              <a:rPr dirty="0" sz="41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>
                <a:solidFill>
                  <a:srgbClr val="FFFFFF"/>
                </a:solidFill>
                <a:latin typeface="Calibri"/>
                <a:cs typeface="Calibri"/>
              </a:rPr>
              <a:t>months:</a:t>
            </a:r>
            <a:r>
              <a:rPr dirty="0" sz="4100" spc="-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dirty="0" sz="410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Calibri"/>
                <a:cs typeface="Calibri"/>
              </a:rPr>
              <a:t>scale</a:t>
            </a:r>
            <a:endParaRPr sz="41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095" y="7452359"/>
            <a:ext cx="18282285" cy="439420"/>
            <a:chOff x="6095" y="7452359"/>
            <a:chExt cx="18282285" cy="439420"/>
          </a:xfrm>
        </p:grpSpPr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754856" y="7452359"/>
              <a:ext cx="1533144" cy="438912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095" y="7452359"/>
              <a:ext cx="18279110" cy="436245"/>
            </a:xfrm>
            <a:custGeom>
              <a:avLst/>
              <a:gdLst/>
              <a:ahLst/>
              <a:cxnLst/>
              <a:rect l="l" t="t" r="r" b="b"/>
              <a:pathLst>
                <a:path w="18279110" h="436245">
                  <a:moveTo>
                    <a:pt x="18278856" y="435864"/>
                  </a:moveTo>
                  <a:lnTo>
                    <a:pt x="0" y="435864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435864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6095" y="8055864"/>
            <a:ext cx="18282285" cy="384175"/>
            <a:chOff x="6095" y="8055864"/>
            <a:chExt cx="18282285" cy="384175"/>
          </a:xfrm>
        </p:grpSpPr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02456" y="8055864"/>
              <a:ext cx="1685544" cy="384048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095" y="8055864"/>
              <a:ext cx="18279110" cy="381000"/>
            </a:xfrm>
            <a:custGeom>
              <a:avLst/>
              <a:gdLst/>
              <a:ahLst/>
              <a:cxnLst/>
              <a:rect l="l" t="t" r="r" b="b"/>
              <a:pathLst>
                <a:path w="18279110" h="381000">
                  <a:moveTo>
                    <a:pt x="18278856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38100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6095" y="8653271"/>
            <a:ext cx="18282285" cy="390525"/>
            <a:chOff x="6095" y="8653271"/>
            <a:chExt cx="18282285" cy="390525"/>
          </a:xfrm>
        </p:grpSpPr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447008" y="8653271"/>
              <a:ext cx="1840992" cy="390143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6095" y="8653271"/>
              <a:ext cx="18279110" cy="387350"/>
            </a:xfrm>
            <a:custGeom>
              <a:avLst/>
              <a:gdLst/>
              <a:ahLst/>
              <a:cxnLst/>
              <a:rect l="l" t="t" r="r" b="b"/>
              <a:pathLst>
                <a:path w="18279110" h="387350">
                  <a:moveTo>
                    <a:pt x="18278856" y="387096"/>
                  </a:moveTo>
                  <a:lnTo>
                    <a:pt x="0" y="387096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387096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6095" y="9256776"/>
            <a:ext cx="18282285" cy="433070"/>
            <a:chOff x="6095" y="9256776"/>
            <a:chExt cx="18282285" cy="433070"/>
          </a:xfrm>
        </p:grpSpPr>
        <p:pic>
          <p:nvPicPr>
            <p:cNvPr id="38" name="object 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401287" y="9256776"/>
              <a:ext cx="1886711" cy="432816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095" y="9256776"/>
              <a:ext cx="18279110" cy="429895"/>
            </a:xfrm>
            <a:custGeom>
              <a:avLst/>
              <a:gdLst/>
              <a:ahLst/>
              <a:cxnLst/>
              <a:rect l="l" t="t" r="r" b="b"/>
              <a:pathLst>
                <a:path w="18279110" h="429895">
                  <a:moveTo>
                    <a:pt x="18278856" y="429768"/>
                  </a:moveTo>
                  <a:lnTo>
                    <a:pt x="0" y="429768"/>
                  </a:lnTo>
                  <a:lnTo>
                    <a:pt x="0" y="0"/>
                  </a:lnTo>
                  <a:lnTo>
                    <a:pt x="18278856" y="0"/>
                  </a:lnTo>
                  <a:lnTo>
                    <a:pt x="18278856" y="429768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990390" y="7257542"/>
            <a:ext cx="5923280" cy="2444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5450" indent="-412750">
              <a:lnSpc>
                <a:spcPts val="4805"/>
              </a:lnSpc>
              <a:spcBef>
                <a:spcPts val="100"/>
              </a:spcBef>
              <a:buChar char="•"/>
              <a:tabLst>
                <a:tab pos="425450" algn="l"/>
              </a:tabLst>
            </a:pPr>
            <a:r>
              <a:rPr dirty="0" sz="4050" spc="-114">
                <a:solidFill>
                  <a:srgbClr val="FFFFFF"/>
                </a:solidFill>
                <a:latin typeface="Calibri"/>
                <a:cs typeface="Calibri"/>
              </a:rPr>
              <a:t>Marketing:</a:t>
            </a:r>
            <a:r>
              <a:rPr dirty="0" sz="40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40">
                <a:solidFill>
                  <a:srgbClr val="FFFFFF"/>
                </a:solidFill>
                <a:latin typeface="Calibri"/>
                <a:cs typeface="Calibri"/>
              </a:rPr>
              <a:t>40%</a:t>
            </a:r>
            <a:endParaRPr sz="4050">
              <a:latin typeface="Calibri"/>
              <a:cs typeface="Calibri"/>
            </a:endParaRPr>
          </a:p>
          <a:p>
            <a:pPr marL="425450" indent="-412750">
              <a:lnSpc>
                <a:spcPts val="4765"/>
              </a:lnSpc>
              <a:buChar char="•"/>
              <a:tabLst>
                <a:tab pos="425450" algn="l"/>
              </a:tabLst>
            </a:pPr>
            <a:r>
              <a:rPr dirty="0" sz="4050" spc="-35">
                <a:solidFill>
                  <a:srgbClr val="FFFFFF"/>
                </a:solidFill>
                <a:latin typeface="Calibri"/>
                <a:cs typeface="Calibri"/>
              </a:rPr>
              <a:t>Product/Tech:</a:t>
            </a:r>
            <a:r>
              <a:rPr dirty="0" sz="4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-25">
                <a:solidFill>
                  <a:srgbClr val="FFFFFF"/>
                </a:solidFill>
                <a:latin typeface="Calibri"/>
                <a:cs typeface="Calibri"/>
              </a:rPr>
              <a:t>30%</a:t>
            </a:r>
            <a:endParaRPr sz="4050">
              <a:latin typeface="Calibri"/>
              <a:cs typeface="Calibri"/>
            </a:endParaRPr>
          </a:p>
          <a:p>
            <a:pPr marL="429895" indent="-417195">
              <a:lnSpc>
                <a:spcPts val="4685"/>
              </a:lnSpc>
              <a:buChar char="•"/>
              <a:tabLst>
                <a:tab pos="429895" algn="l"/>
              </a:tabLst>
            </a:pPr>
            <a:r>
              <a:rPr dirty="0" sz="4000">
                <a:solidFill>
                  <a:srgbClr val="FFFFFF"/>
                </a:solidFill>
                <a:latin typeface="Calibri"/>
                <a:cs typeface="Calibri"/>
              </a:rPr>
              <a:t>Content/Localization:</a:t>
            </a:r>
            <a:r>
              <a:rPr dirty="0" sz="40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35">
                <a:solidFill>
                  <a:srgbClr val="FFFFFF"/>
                </a:solidFill>
                <a:latin typeface="Calibri"/>
                <a:cs typeface="Calibri"/>
              </a:rPr>
              <a:t>20%</a:t>
            </a:r>
            <a:endParaRPr sz="4000">
              <a:latin typeface="Calibri"/>
              <a:cs typeface="Calibri"/>
            </a:endParaRPr>
          </a:p>
          <a:p>
            <a:pPr marL="429259" indent="-416559">
              <a:lnSpc>
                <a:spcPts val="4785"/>
              </a:lnSpc>
              <a:buChar char="•"/>
              <a:tabLst>
                <a:tab pos="429259" algn="l"/>
              </a:tabLst>
            </a:pPr>
            <a:r>
              <a:rPr dirty="0" sz="4050" spc="-55">
                <a:solidFill>
                  <a:srgbClr val="FFFFFF"/>
                </a:solidFill>
                <a:latin typeface="Calibri"/>
                <a:cs typeface="Calibri"/>
              </a:rPr>
              <a:t>Operations:</a:t>
            </a:r>
            <a:r>
              <a:rPr dirty="0" sz="4050" spc="-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-25">
                <a:solidFill>
                  <a:srgbClr val="FFFFFF"/>
                </a:solidFill>
                <a:latin typeface="Calibri"/>
                <a:cs typeface="Calibri"/>
              </a:rPr>
              <a:t>10%</a:t>
            </a:r>
            <a:endParaRPr sz="405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6095" y="10226040"/>
            <a:ext cx="18282285" cy="30480"/>
            <a:chOff x="6095" y="10226040"/>
            <a:chExt cx="18282285" cy="30480"/>
          </a:xfrm>
        </p:grpSpPr>
        <p:pic>
          <p:nvPicPr>
            <p:cNvPr id="42" name="object 4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95" y="10226040"/>
              <a:ext cx="18281904" cy="3048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95" y="10226040"/>
              <a:ext cx="18281904" cy="304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Pitch Presentation</dc:title>
  <dcterms:created xsi:type="dcterms:W3CDTF">2026-05-02T14:42:58Z</dcterms:created>
  <dcterms:modified xsi:type="dcterms:W3CDTF">2026-05-02T14:42:58Z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2026-05-02T00:00:00Z</vt:filetime>
  </property>
  <property fmtid="{D5CDD505-2E9C-101B-9397-08002B2CF9AE}" pid="3" name="LastSaved">
    <vt:filetime>2026-05-02T00:00:00Z</vt:filetime>
  </property>
</Properties>
</file>